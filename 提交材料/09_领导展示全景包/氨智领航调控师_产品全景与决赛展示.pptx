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8e35d5d2164e94" /><Relationship Type="http://schemas.openxmlformats.org/officeDocument/2006/relationships/extended-properties" Target="/docProps/app.xml" Id="R6d6f717faa464fe5" /><Relationship Type="http://schemas.openxmlformats.org/officeDocument/2006/relationships/officeDocument" Target="/ppt/presentation.xml" Id="Ra5efa4124d8a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6ad7f28cea4da5"/>
  </p:sldMasterIdLst>
  <p:notesMasterIdLst>
    <p:notesMasterId xmlns:r="http://schemas.openxmlformats.org/officeDocument/2006/relationships" r:id="Red03f1da421a4443"/>
  </p:notesMasterIdLst>
  <p:sldIdLst>
    <p:sldId xmlns:r="http://schemas.openxmlformats.org/officeDocument/2006/relationships" id="256" r:id="R30822f638e5941d2"/>
    <p:sldId xmlns:r="http://schemas.openxmlformats.org/officeDocument/2006/relationships" id="257" r:id="R86b510a2a4ff47b4"/>
    <p:sldId xmlns:r="http://schemas.openxmlformats.org/officeDocument/2006/relationships" id="258" r:id="R34bd61f6ee0b459b"/>
    <p:sldId xmlns:r="http://schemas.openxmlformats.org/officeDocument/2006/relationships" id="259" r:id="R60994c8b8cc947f1"/>
    <p:sldId xmlns:r="http://schemas.openxmlformats.org/officeDocument/2006/relationships" id="260" r:id="R5e637fc899a245c6"/>
    <p:sldId xmlns:r="http://schemas.openxmlformats.org/officeDocument/2006/relationships" id="261" r:id="Rd2e20c74ffee4c09"/>
    <p:sldId xmlns:r="http://schemas.openxmlformats.org/officeDocument/2006/relationships" id="262" r:id="R28894036147444c0"/>
    <p:sldId xmlns:r="http://schemas.openxmlformats.org/officeDocument/2006/relationships" id="263" r:id="Rfdb826c45dc544cc"/>
    <p:sldId xmlns:r="http://schemas.openxmlformats.org/officeDocument/2006/relationships" id="264" r:id="Re73e463c9c1b46d4"/>
    <p:sldId xmlns:r="http://schemas.openxmlformats.org/officeDocument/2006/relationships" id="265" r:id="R0cd800414e114a12"/>
    <p:sldId xmlns:r="http://schemas.openxmlformats.org/officeDocument/2006/relationships" id="266" r:id="R028fb1ba01fd4152"/>
    <p:sldId xmlns:r="http://schemas.openxmlformats.org/officeDocument/2006/relationships" id="267" r:id="R8805ad7da2aa4093"/>
    <p:sldId xmlns:r="http://schemas.openxmlformats.org/officeDocument/2006/relationships" id="268" r:id="R09c2afbb144644d2"/>
    <p:sldId xmlns:r="http://schemas.openxmlformats.org/officeDocument/2006/relationships" id="269" r:id="R594ce0f2acb84b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d3430faeaa4ad6" /><Relationship Type="http://schemas.openxmlformats.org/officeDocument/2006/relationships/slideMaster" Target="/ppt/slideMasters/slideMaster1.xml" Id="Rd26ad7f28cea4da5" /><Relationship Type="http://schemas.openxmlformats.org/officeDocument/2006/relationships/notesMaster" Target="/ppt/notesMasters/notesMaster1.xml" Id="Red03f1da421a4443" /><Relationship Type="http://schemas.openxmlformats.org/officeDocument/2006/relationships/presProps" Target="/ppt/presProps.xml" Id="R4c1b3688d5a14089" /><Relationship Type="http://schemas.openxmlformats.org/officeDocument/2006/relationships/tableStyles" Target="/ppt/tableStyles.xml" Id="R9877d040aab345e9" /><Relationship Type="http://schemas.openxmlformats.org/officeDocument/2006/relationships/slide" Target="/ppt/slides/slide1.xml" Id="R30822f638e5941d2" /><Relationship Type="http://schemas.openxmlformats.org/officeDocument/2006/relationships/slide" Target="/ppt/slides/slide2.xml" Id="R86b510a2a4ff47b4" /><Relationship Type="http://schemas.openxmlformats.org/officeDocument/2006/relationships/slide" Target="/ppt/slides/slide3.xml" Id="R34bd61f6ee0b459b" /><Relationship Type="http://schemas.openxmlformats.org/officeDocument/2006/relationships/slide" Target="/ppt/slides/slide4.xml" Id="R60994c8b8cc947f1" /><Relationship Type="http://schemas.openxmlformats.org/officeDocument/2006/relationships/slide" Target="/ppt/slides/slide5.xml" Id="R5e637fc899a245c6" /><Relationship Type="http://schemas.openxmlformats.org/officeDocument/2006/relationships/slide" Target="/ppt/slides/slide6.xml" Id="Rd2e20c74ffee4c09" /><Relationship Type="http://schemas.openxmlformats.org/officeDocument/2006/relationships/slide" Target="/ppt/slides/slide7.xml" Id="R28894036147444c0" /><Relationship Type="http://schemas.openxmlformats.org/officeDocument/2006/relationships/slide" Target="/ppt/slides/slide8.xml" Id="Rfdb826c45dc544cc" /><Relationship Type="http://schemas.openxmlformats.org/officeDocument/2006/relationships/slide" Target="/ppt/slides/slide9.xml" Id="Re73e463c9c1b46d4" /><Relationship Type="http://schemas.openxmlformats.org/officeDocument/2006/relationships/slide" Target="/ppt/slides/slide10.xml" Id="R0cd800414e114a12" /><Relationship Type="http://schemas.openxmlformats.org/officeDocument/2006/relationships/slide" Target="/ppt/slides/slide11.xml" Id="R028fb1ba01fd4152" /><Relationship Type="http://schemas.openxmlformats.org/officeDocument/2006/relationships/slide" Target="/ppt/slides/slide12.xml" Id="R8805ad7da2aa4093" /><Relationship Type="http://schemas.openxmlformats.org/officeDocument/2006/relationships/slide" Target="/ppt/slides/slide13.xml" Id="R09c2afbb144644d2" /><Relationship Type="http://schemas.openxmlformats.org/officeDocument/2006/relationships/slide" Target="/ppt/slides/slide14.xml" Id="R594ce0f2acb84b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786c3697543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15805124d84401" /><Relationship Type="http://schemas.openxmlformats.org/officeDocument/2006/relationships/notesMaster" Target="/ppt/notesMasters/notesMaster1.xml" Id="R8fb19c254b0c42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b38bf33d34459d" /><Relationship Type="http://schemas.openxmlformats.org/officeDocument/2006/relationships/notesMaster" Target="/ppt/notesMasters/notesMaster1.xml" Id="Ra71da783e62145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b314bf21b64ae4" /><Relationship Type="http://schemas.openxmlformats.org/officeDocument/2006/relationships/notesMaster" Target="/ppt/notesMasters/notesMaster1.xml" Id="Rbf15872d4be941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6f3e439c6f54f09" /><Relationship Type="http://schemas.openxmlformats.org/officeDocument/2006/relationships/notesMaster" Target="/ppt/notesMasters/notesMaster1.xml" Id="R9d6d1099ba414f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66a4e1154424895" /><Relationship Type="http://schemas.openxmlformats.org/officeDocument/2006/relationships/notesMaster" Target="/ppt/notesMasters/notesMaster1.xml" Id="Reeb3d370700843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321df7aecc4b1a" /><Relationship Type="http://schemas.openxmlformats.org/officeDocument/2006/relationships/notesMaster" Target="/ppt/notesMasters/notesMaster1.xml" Id="R1c6283a0bf0d4aa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4bc5d126d24ae3" /><Relationship Type="http://schemas.openxmlformats.org/officeDocument/2006/relationships/notesMaster" Target="/ppt/notesMasters/notesMaster1.xml" Id="R228455e4305b44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9bcb6873bab47a6" /><Relationship Type="http://schemas.openxmlformats.org/officeDocument/2006/relationships/notesMaster" Target="/ppt/notesMasters/notesMaster1.xml" Id="R250d13d1ffed4b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bf08fcfd6f4c4f" /><Relationship Type="http://schemas.openxmlformats.org/officeDocument/2006/relationships/notesMaster" Target="/ppt/notesMasters/notesMaster1.xml" Id="R3775e8a44584425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7129b94742c41a1" /><Relationship Type="http://schemas.openxmlformats.org/officeDocument/2006/relationships/notesMaster" Target="/ppt/notesMasters/notesMaster1.xml" Id="R65cabca7ecbe4cd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38f13e8b514b8b" /><Relationship Type="http://schemas.openxmlformats.org/officeDocument/2006/relationships/notesMaster" Target="/ppt/notesMasters/notesMaster1.xml" Id="R84194cc689d54d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101ccf4abd40a2" /><Relationship Type="http://schemas.openxmlformats.org/officeDocument/2006/relationships/notesMaster" Target="/ppt/notesMasters/notesMaster1.xml" Id="Rf88cd7fa389f4a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a29620dd464efd" /><Relationship Type="http://schemas.openxmlformats.org/officeDocument/2006/relationships/notesMaster" Target="/ppt/notesMasters/notesMaster1.xml" Id="R6626c21964234e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4fe553618af41f2" /><Relationship Type="http://schemas.openxmlformats.org/officeDocument/2006/relationships/notesMaster" Target="/ppt/notesMasters/notesMaster1.xml" Id="R70f49aa804de4b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开场只讲一句：我们做的不是另一套DCS，也不是一张看板，而是一名帮助调度员完成跨装置取舍的数字员工。它先汇总事实，再比较方案，最后把确认、执行和复盘串起来。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提交材料/06_决赛完整方案文档.docx</a:t>
            </a:r>
          </a:p>
          <a:p xmlns:a="http://schemas.openxmlformats.org/drawingml/2006/main">
            <a:r>
              <a:t>- screenshots/01_当班态势与四场景.png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这张图是全场导航。评委不需要记住每个模块，只要记住一条主线：事实进入，方案产生，人来确认，飞书承接，影子验收，经验沉淀；安全边界贯穿始终。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提交材料/09_领导展示全景包/氨智领航调控师_产品功能全景树.svg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docs/experience-learning-loop.md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把项目位置讲清楚：DCS已经很擅长局部调节，但下游异常时，跨装置减负荷、液氨分给谁、是否外采、哪个专业先处理，仍要靠调度长组织。我们的工作就在这一层。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docs/research-brief.md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企业导师访谈纪要（用户提供）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提醒评委：按钮不是开停车按钮，只是演练条件入口。页面中间的建议也不是已执行负荷，必须经过班长确认、岗位接令和现场规程。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screenshots/01_当班态势与四场景.png</a:t>
            </a:r>
          </a:p>
          <a:p xmlns:a="http://schemas.openxmlformats.org/drawingml/2006/main">
            <a:r>
              <a:t>- docs/user-guide-for-beginners.md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这里是强落地点：网页能联网读取登记的官方公开来源，但它不等于企业成交价。经营确认把产品、区域、单位、含税/运费、生效时间和版本冻结后，才进入方案计算。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screenshots/02_经营行情闸门.png</a:t>
            </a:r>
          </a:p>
          <a:p xmlns:a="http://schemas.openxmlformats.org/drawingml/2006/main">
            <a:r>
              <a:t>- docs/architecture.md#行情口径与执行价闸门</a:t>
            </a:r>
          </a:p>
          <a:p xmlns:a="http://schemas.openxmlformats.org/drawingml/2006/main">
            <a:r>
              <a:t>- scripts/market_gateway_server.mjs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这是企业最容易核验的功能。先把期初库存、预计产氨、外采到货和所有去向都列出来，保证平衡等式成立。安全库存不满足时，不会因为某个产品利润高就继续给出可执行方案。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screenshots/03_液氨平衡.png</a:t>
            </a:r>
          </a:p>
          <a:p xmlns:a="http://schemas.openxmlformats.org/drawingml/2006/main">
            <a:r>
              <a:t>- data/ammonia_balance_24h.csv</a:t>
            </a:r>
          </a:p>
          <a:p xmlns:a="http://schemas.openxmlformats.org/drawingml/2006/main">
            <a:r>
              <a:t>- docs/user-guide-for-beginners.md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结合企业导师补充：某产品售价低于完全成本时仍可能生产，因为折旧等固定成本已经发生，只要有正边际贡献、避免违约或避免停车损失，方案仍值得比较。页面不能把样例贡献额说成企业已节约金额。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screenshots/04_产供销事实表与经济取舍.png</a:t>
            </a:r>
          </a:p>
          <a:p xmlns:a="http://schemas.openxmlformats.org/drawingml/2006/main">
            <a:r>
              <a:t>- docs/finals-demo-evidence-qa.md</a:t>
            </a:r>
          </a:p>
          <a:p xmlns:a="http://schemas.openxmlformats.org/drawingml/2006/main">
            <a:r>
              <a:t>- 企业导师访谈纪要（用户提供）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企业举了压缩机微弱变化被新手当作正常波动的例子。当前作品把轴振、轴位移、防喘振裕度和温度等趋势放在一起，给出检查项、持续时间和责任专业。没有真实标签前，不承诺事故预测准确率。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screenshots/05_事件队列.png</a:t>
            </a:r>
          </a:p>
          <a:p xmlns:a="http://schemas.openxmlformats.org/drawingml/2006/main">
            <a:r>
              <a:t>- screenshots/06_压机弱信号趋势.png</a:t>
            </a:r>
          </a:p>
          <a:p xmlns:a="http://schemas.openxmlformats.org/drawingml/2006/main">
            <a:r>
              <a:t>- docs/enterprise-software-benchmark.md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跨装置动作单把合成、硝酸、罐区和公辅分开，写清事实、建议、节奏、责任人和执行前置条件。接令只代表岗位确认收到，不代表阀位或负荷已经改变。实际值只能来自企业事实源。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screenshots/07_跨装置动作单.png</a:t>
            </a:r>
          </a:p>
          <a:p xmlns:a="http://schemas.openxmlformats.org/drawingml/2006/main">
            <a:r>
              <a:t>- screenshots/08_执行监督.png</a:t>
            </a:r>
          </a:p>
          <a:p xmlns:a="http://schemas.openxmlformats.org/drawingml/2006/main">
            <a:r>
              <a:t>- docs/finals-demo-evidence-qa.md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飞书不是装饰性链接。它承担建议送达、会签、任务、复盘库和知识检索。展示时必须区分完成度：在线方案、多维表格和Task已有验证；自动审批、拆单、事件回传和Aily仍需企业授权。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screenshots/09_飞书协同闭环.png</a:t>
            </a:r>
          </a:p>
          <a:p xmlns:a="http://schemas.openxmlformats.org/drawingml/2006/main">
            <a:r>
              <a:t>- docs/feishu-integration-playbook.md</a:t>
            </a:r>
          </a:p>
          <a:p xmlns:a="http://schemas.openxmlformats.org/drawingml/2006/main">
            <a:r>
              <a:t>- 提交材料/07_飞书功能模块说明.docx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影子运行是最重要的落地方法。把系统建议和人工原计划放在同一输入快照下回放，先验证数据、物料、硬约束和解释，再接企业真实回传。样例班次进度不能讲成真实成绩。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screenshots/12_影子运行验收台.png</a:t>
            </a:r>
          </a:p>
          <a:p xmlns:a="http://schemas.openxmlformats.org/drawingml/2006/main">
            <a:r>
              <a:t>- docs/finals-demo-evidence-qa.md</a:t>
            </a:r>
          </a:p>
          <a:p xmlns:a="http://schemas.openxmlformats.org/drawingml/2006/main">
            <a:r>
              <a:t>- 提交材料/08_决赛演示与验收附件.docx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这里回答知识传承难。页面把已审核和待审核案例分开，待审核的压机案例不能生成学习卡。学习卡必须写明当时事实、判断、适用条件、禁用条件、审核人和规则版本。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screenshots/10_经验沉淀与新人学习.png</a:t>
            </a:r>
          </a:p>
          <a:p xmlns:a="http://schemas.openxmlformats.org/drawingml/2006/main">
            <a:r>
              <a:t>- docs/experience-learning-loop.md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从ISA-95层级看，平台位于生产运行管理层。控制系统、SIS、APC和设备保护继续承担原职责。首期通过只读副本或DMZ网关取数，审批后只写计划摘要、交接说明和复盘记录。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</a:t>
            </a:r>
          </a:p>
          <a:p xmlns:a="http://schemas.openxmlformats.org/drawingml/2006/main">
            <a:r>
              <a:t>- https://www.isa.org/standards-and-publications/isa-standards/isa-95-standard</a:t>
            </a:r>
          </a:p>
          <a:p xmlns:a="http://schemas.openxmlformats.org/drawingml/2006/main">
            <a:r>
              <a:t>- screenshots/13_接口字段与模型边界.png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收束到可执行请求：先给一段企业批准的历史班次和四类只读数据，完成30天口径校核；再做60天同快照回放；只有通过安全、生产、设备和经营专业验收后，才进入90天小范围闭环。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screenshots/11_三十六十九十天试点路线.png</a:t>
            </a:r>
          </a:p>
          <a:p xmlns:a="http://schemas.openxmlformats.org/drawingml/2006/main">
            <a:r>
              <a:t>- docs/optimization-roadmap.md</a:t>
            </a:r>
          </a:p>
          <a:p xmlns:a="http://schemas.openxmlformats.org/drawingml/2006/main">
            <a:r>
              <a:t>- docs/finals-demo-evidence-qa.md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539908ba3d453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bb93e5e8e24e40" /><Relationship Type="http://schemas.openxmlformats.org/officeDocument/2006/relationships/slideLayout" Target="/ppt/slideLayouts/slideLayout1.xml" Id="R79a0b73433204cd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a0b73433204cd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3ebd82a3d4aa7" /><Relationship Type="http://schemas.openxmlformats.org/officeDocument/2006/relationships/image" Target="/ppt/media/image.png" Id="R06d97ba8137c47ed" /><Relationship Type="http://schemas.openxmlformats.org/officeDocument/2006/relationships/notesSlide" Target="/ppt/notesSlides/notesSlide1.xml" Id="R27a168e96e844c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d951fd48545a0" /><Relationship Type="http://schemas.openxmlformats.org/officeDocument/2006/relationships/image" Target="/ppt/media/image2.png" Id="Rb379761b3cfc4491" /><Relationship Type="http://schemas.openxmlformats.org/officeDocument/2006/relationships/notesSlide" Target="/ppt/notesSlides/notesSlide2.xml" Id="Rd78cbc519f504e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6fb1d754d247b9" /><Relationship Type="http://schemas.openxmlformats.org/officeDocument/2006/relationships/notesSlide" Target="/ppt/notesSlides/notesSlide3.xml" Id="Rf15b5c1eca9741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96e1ceca5246de" /><Relationship Type="http://schemas.openxmlformats.org/officeDocument/2006/relationships/image" Target="/ppt/media/image3.png" Id="Re871c799a9ba49e5" /><Relationship Type="http://schemas.openxmlformats.org/officeDocument/2006/relationships/notesSlide" Target="/ppt/notesSlides/notesSlide4.xml" Id="R0dc87c60e6ab4e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7510a6c194409" /><Relationship Type="http://schemas.openxmlformats.org/officeDocument/2006/relationships/image" Target="/ppt/media/image4.png" Id="R35508200cf8b4401" /><Relationship Type="http://schemas.openxmlformats.org/officeDocument/2006/relationships/notesSlide" Target="/ppt/notesSlides/notesSlide5.xml" Id="Rfd0b6d4f848d4bb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af248f96c436a" /><Relationship Type="http://schemas.openxmlformats.org/officeDocument/2006/relationships/image" Target="/ppt/media/image5.png" Id="R984d301e61a142e8" /><Relationship Type="http://schemas.openxmlformats.org/officeDocument/2006/relationships/notesSlide" Target="/ppt/notesSlides/notesSlide6.xml" Id="R6a3d1989f9cb45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733a0c4f3435e" /><Relationship Type="http://schemas.openxmlformats.org/officeDocument/2006/relationships/image" Target="/ppt/media/image6.png" Id="R284ea19b20664159" /><Relationship Type="http://schemas.openxmlformats.org/officeDocument/2006/relationships/notesSlide" Target="/ppt/notesSlides/notesSlide7.xml" Id="R8eeab75390f044d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818c4d8564db8" /><Relationship Type="http://schemas.openxmlformats.org/officeDocument/2006/relationships/image" Target="/ppt/media/image7.png" Id="R6de1b7743be54f63" /><Relationship Type="http://schemas.openxmlformats.org/officeDocument/2006/relationships/image" Target="/ppt/media/image8.png" Id="Ra0965c6fa3fd4d3a" /><Relationship Type="http://schemas.openxmlformats.org/officeDocument/2006/relationships/notesSlide" Target="/ppt/notesSlides/notesSlide8.xml" Id="R7d0b8930044e481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2f0da309144e6" /><Relationship Type="http://schemas.openxmlformats.org/officeDocument/2006/relationships/image" Target="/ppt/media/image9.png" Id="R46128511243144d8" /><Relationship Type="http://schemas.openxmlformats.org/officeDocument/2006/relationships/image" Target="/ppt/media/image10.png" Id="R258d53cafc044431" /><Relationship Type="http://schemas.openxmlformats.org/officeDocument/2006/relationships/notesSlide" Target="/ppt/notesSlides/notesSlide9.xml" Id="R2055ea172ae245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44051538f41dd" /><Relationship Type="http://schemas.openxmlformats.org/officeDocument/2006/relationships/image" Target="/ppt/media/image11.png" Id="R7b434fdf45b146d5" /><Relationship Type="http://schemas.openxmlformats.org/officeDocument/2006/relationships/notesSlide" Target="/ppt/notesSlides/notesSlide10.xml" Id="R8907575ccc4048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aae5c310614702" /><Relationship Type="http://schemas.openxmlformats.org/officeDocument/2006/relationships/image" Target="/ppt/media/image12.png" Id="R74b0f82689734b33" /><Relationship Type="http://schemas.openxmlformats.org/officeDocument/2006/relationships/notesSlide" Target="/ppt/notesSlides/notesSlide11.xml" Id="R1bae9f81fac64d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9181038564c75" /><Relationship Type="http://schemas.openxmlformats.org/officeDocument/2006/relationships/image" Target="/ppt/media/image13.png" Id="Rbcb90b61abda4722" /><Relationship Type="http://schemas.openxmlformats.org/officeDocument/2006/relationships/notesSlide" Target="/ppt/notesSlides/notesSlide12.xml" Id="Re4b8b0df14dd44b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15314d604d4f" /><Relationship Type="http://schemas.openxmlformats.org/officeDocument/2006/relationships/notesSlide" Target="/ppt/notesSlides/notesSlide13.xml" Id="R1008ccaab7cd43c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c874cc0f004901" /><Relationship Type="http://schemas.openxmlformats.org/officeDocument/2006/relationships/image" Target="/ppt/media/image14.png" Id="Rf47ce2632a2741d2" /><Relationship Type="http://schemas.openxmlformats.org/officeDocument/2006/relationships/notesSlide" Target="/ppt/notesSlides/notesSlide14.xml" Id="Rbb33d4da884744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97ba8137c47ed"/>
          <a:srcRect xmlns:a="http://schemas.openxmlformats.org/drawingml/2006/main" l="22656" t="0" r="22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BC7E59-2C96-4327-9423-AE3F959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7166C-B789-46ED-90AE-150E1F18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76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8565D8-9575-4D2C-BC56-CF2799438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A9DCCF"/>
                </a:solidFill>
              </a:defRPr>
            </a:pPr>
            <a:r>
              <a:rPr sz="1350" b="1">
                <a:solidFill>
                  <a:srgbClr val="A9DCCF"/>
                </a:solidFill>
              </a:rPr>
              <a:t>云图合成氨生产运行管理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7D418-2233-4038-B947-4D2C9D45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氨智领航调控师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0C2023-492E-498E-A31B-19A895C2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9F2F5"/>
                </a:solidFill>
              </a:defRPr>
            </a:pPr>
            <a:r>
              <a:rPr sz="2025" b="1">
                <a:solidFill>
                  <a:srgbClr val="E9F2F5"/>
                </a:solidFill>
              </a:rPr>
              <a:t>把跨系统事实变成可确认、可执行、可验收、可传承的班次方案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21BBFB-264D-4C07-AA92-BDBD002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B8CAD5"/>
                </a:solidFill>
              </a:defRPr>
            </a:pPr>
            <a:r>
              <a:rPr sz="1350">
                <a:solidFill>
                  <a:srgbClr val="B8CAD5"/>
                </a:solidFill>
              </a:rPr>
              <a:t>决赛产品全景展示  |  邓植斤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288878-2C5B-452B-8648-00916B8B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89A5B5"/>
                </a:solidFill>
              </a:defRPr>
            </a:pPr>
            <a:r>
              <a:rPr sz="1050">
                <a:solidFill>
                  <a:srgbClr val="89A5B5"/>
                </a:solidFill>
              </a:rPr>
              <a:t>演练数据不代表企业实际值 · 平台不写 DCS / SIS</a:t>
            </a:r>
          </a:p>
        </p:txBody>
      </p:sp>
    </p:spTree>
    <p:extLst>
      <p:ext uri="{BB962C8B-B14F-4D97-AF65-F5344CB8AC3E}">
        <p14:creationId xmlns:p14="http://schemas.microsoft.com/office/powerpoint/2010/main" val="5247834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597828-26AB-4D6C-A284-D4CAE9B4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33E7E8-9D8E-40EC-8CC4-45156547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产品全景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602F7-F20A-4A8A-BDE0-7DBFE74B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所有功能围绕一次班次的完整闭环展开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E03F9-C6B5-45C4-9312-2E9282DF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143568-CF4B-4E86-9F72-F62C4179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12EA9-7606-4996-A7E6-3436BE9F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02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9761b3cfc4491"/>
          <a:stretch xmlns:a="http://schemas.openxmlformats.org/drawingml/2006/main"/>
        </p:blipFill>
        <p:spPr>
          <a:xfrm xmlns:a="http://schemas.openxmlformats.org/drawingml/2006/main">
            <a:off x="1862667" y="1466850"/>
            <a:ext cx="8466667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52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97B66E-0D32-4688-9CD8-8FFBD03B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DC2B56-8CD9-4157-B399-8BC954BCD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问题与定位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3D313D-4F5A-4190-BD69-6AAE4B23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企业缺少的不是局部控制，而是跨装置的统一判断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8863F-E41F-46AF-804D-E18B06F72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369F7-F7D4-4554-A1F1-9D112A36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3B475-920D-4065-923F-69101A77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2CBF4-BC32-41D7-9CAE-D4655681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95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今天的调度长，要在人脑里同时完成三件事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100373-A491-4CDA-AD89-E8EC2D0E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7C5B5-B395-4205-9F37-193CA5D7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10E74-D7EB-4DE5-A883-FF7F77D5A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3336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D01D6-FC1C-45E1-8D6E-E3342B71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479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调度寻优难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12F30-2BF4-4638-90AD-3DA3CA5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62225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订单、库存、价格、设备和能源一起变化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28297C-8240-4858-A9C8-C1976EB2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54C7C-D38A-4749-9CE2-121689D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D111A-7C1C-401B-BC0A-78063414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3242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F58C4B-E0E4-41A7-BA2E-0A326D76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指挥链条长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79A06-AB13-4D82-814A-7C50C61E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多个系统孤立，跨岗位确认仍靠电话和人工汇总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FBF21-F1A5-4076-8660-8C4B7F3E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ECE094-8681-4639-A0E4-D511744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79E730-3AC9-4D02-91E9-B4ADDE98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148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AD2EAE-DFFF-4BAD-9B1D-B95F177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229100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经验传承慢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CEC13D-1F5D-4DA4-98BB-8A88D43B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43425"/>
            <a:ext cx="403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一名成熟调度长通常需要多年现场积累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53576-05C2-4DBF-B241-74E64F17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143500" cy="3448050"/>
          </a:xfrm>
          <a:prstGeom xmlns:a="http://schemas.openxmlformats.org/drawingml/2006/main" prst="roundRect">
            <a:avLst>
              <a:gd name="adj" fmla="val 2210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1A818-C487-47DC-975C-636B3EEC8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0A486"/>
                </a:solidFill>
              </a:defRPr>
            </a:pPr>
            <a:r>
              <a:rPr sz="1650" b="1">
                <a:solidFill>
                  <a:srgbClr val="20A486"/>
                </a:solidFill>
              </a:rPr>
              <a:t>本平台的岗位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8B1A4B-C5BE-4E2A-A4B9-1606B9E57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98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</a:defRPr>
            </a:pPr>
            <a:r>
              <a:rPr sz="3000" b="1">
                <a:solidFill>
                  <a:srgbClr val="102A43"/>
                </a:solidFill>
              </a:rPr>
              <a:t>生产运行管理层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A5DC2-4E89-40FF-8330-838AEDAD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28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FA73AC-ED99-439D-80CB-E1863F10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向下只读接收 DCS / Historian / 设备摘要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79C35B-8F82-4BBB-810D-A11700210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2721AC-83E9-47BA-B437-0B042979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623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横向串联 ERP、MES、罐区、公辅与经营口径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6781AD-9A46-48C2-B3AF-5867CCB3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671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7B80B5-6A12-40B6-A783-3F2A1BB74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814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向上输出班次建议、责任动作和验收证据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5AD52D-71C9-425F-9E4E-7119C49F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86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01EBEC-0FFC-477A-913D-120209143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0055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不替代联锁、操作票、班长和专业会签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2A9F153-8C0D-41E1-92AC-01A58931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一句话：让调度员少花时间找信息，把精力放在判断和协调上。</a:t>
            </a:r>
          </a:p>
        </p:txBody>
      </p:sp>
    </p:spTree>
    <p:extLst>
      <p:ext uri="{BB962C8B-B14F-4D97-AF65-F5344CB8AC3E}">
        <p14:creationId xmlns:p14="http://schemas.microsoft.com/office/powerpoint/2010/main" val="16764505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46D4D-6255-4326-8E15-3BF66D2F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59E82-D8E4-4324-B2C5-4C3E962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当班态势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83F045-D42A-408E-8C13-22875DBE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四个场景只是入口，每次决策都先核对同一份班次事实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00BF0-3C41-4E51-B27E-D9C7B807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94BA3-04E2-4DBC-AC2A-90D32DB2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53D4D-C384-425F-860E-70301D1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1c799a9ba49e5"/>
          <a:stretch xmlns:a="http://schemas.openxmlformats.org/drawingml/2006/main"/>
        </p:blipFill>
        <p:spPr>
          <a:xfrm xmlns:a="http://schemas.openxmlformats.org/drawingml/2006/main">
            <a:off x="590550" y="1509713"/>
            <a:ext cx="7239000" cy="4524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0EEB5-701E-40F3-B641-12F44122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怎么读这张页面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860FD-5527-44DE-9D85-2D59B6E5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76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DEBE3A-3A51-4E76-B315-3010593A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907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稳氨：连续、平稳、库存可控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4C8A2-9CCA-4FB1-8A4A-1214AB3FF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52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78F39-D18C-4E86-8438-E6D9A128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保供：液氨紧张时先保刚性需求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51D1E-590F-4394-8A07-4C42A873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28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FC6207-98FB-4D4A-82E8-399D2D6F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4325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护机：关键机组趋势偏离时收敛风险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E28FB7-2E05-43CC-8947-6E9B0D86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05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DAA7F9-7D59-4ACA-B36F-D0A40D37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19500"/>
            <a:ext cx="2914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错峰：能源高价窗口下调整节奏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C34888-19AC-4078-9219-318FDB19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05300"/>
            <a:ext cx="3028950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607826-8C5F-4D19-A1F1-0FE99488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514850"/>
            <a:ext cx="247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A486"/>
                </a:solidFill>
              </a:defRPr>
            </a:pPr>
            <a:r>
              <a:rPr sz="1350" b="1">
                <a:solidFill>
                  <a:srgbClr val="20A486"/>
                </a:solidFill>
              </a:rPr>
              <a:t>每条建议都带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9F367C-313A-49A5-8789-E134B64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867275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编号 · 版本 · 有效期</a:t>
            </a:r>
          </a:p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回滚触发 · 责任岗位</a:t>
            </a:r>
          </a:p>
        </p:txBody>
      </p:sp>
    </p:spTree>
    <p:extLst>
      <p:ext uri="{BB962C8B-B14F-4D97-AF65-F5344CB8AC3E}">
        <p14:creationId xmlns:p14="http://schemas.microsoft.com/office/powerpoint/2010/main" val="17044290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2C32B-7E5A-4540-8E75-E3FA8106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0EABFF-5D1F-4036-95F4-EEA335C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经营行情闸门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9CF772-2D35-4DCE-A826-1540E10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公开行情只做参考，执行价格必须经过经营确认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8DE35-F3E8-45EB-B84A-D3D5A81F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49DE5-C288-4AC8-B2AD-E34B3523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73E2C-3F8E-49BD-AEA6-7D99A2F41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05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508200cf8b4401"/>
          <a:stretch xmlns:a="http://schemas.openxmlformats.org/drawingml/2006/main"/>
        </p:blipFill>
        <p:spPr>
          <a:xfrm xmlns:a="http://schemas.openxmlformats.org/drawingml/2006/main">
            <a:off x="2156550" y="1543050"/>
            <a:ext cx="1820999" cy="4457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CAE17-6B6F-425F-BD73-70AC9BD3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573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A43"/>
                </a:solidFill>
              </a:defRPr>
            </a:pPr>
            <a:r>
              <a:rPr sz="1875" b="1">
                <a:solidFill>
                  <a:srgbClr val="102A43"/>
                </a:solidFill>
              </a:rPr>
              <a:t>价格进入调度前要经过两道门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FD385-7E1B-4950-9143-DA27FA5F7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FCA2FD-441D-43C0-AC5C-6E443E5F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38375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F1E55-F96B-4E68-A7E0-6BA6B305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57450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DDFB0F-B14B-4B3A-A2B7-B5728EF7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371725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官方公开参考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C669E0-26BB-45C3-8946-7F83DACB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6860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显示来源、发布时间和读取时间，用于趋势与交叉核验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D1D741-A5BB-4D5E-9FD5-A4A10BA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76600"/>
            <a:ext cx="4953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9F620-73A8-416F-B8A5-DE2429A2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7660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DDE1E-BEAE-47CE-AAB6-DF2060C9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956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7BA128-4358-42D8-A4B1-B4685B06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409950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企业执行价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7573E-87C0-4B45-B5D7-852E29E5D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24275"/>
            <a:ext cx="422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ERP、销售报价或采购结算版本，由经营人员确认口径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D4C35F-CC14-4B3A-9B81-E1ADC38A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95800"/>
            <a:ext cx="4953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FD4273-2407-4DF9-B116-1049DEC8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未确认时怎么办？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96A26C-A6AD-4F36-B036-2EF617AC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38725"/>
            <a:ext cx="4343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24A"/>
                </a:solidFill>
              </a:defRPr>
            </a:pPr>
            <a:r>
              <a:rPr sz="1350">
                <a:solidFill>
                  <a:srgbClr val="17324A"/>
                </a:solidFill>
              </a:rPr>
              <a:t>沿用上一有效版本，冻结新的经济排序，不把网上价格直接写进生产计划。</a:t>
            </a:r>
          </a:p>
        </p:txBody>
      </p:sp>
    </p:spTree>
    <p:extLst>
      <p:ext uri="{BB962C8B-B14F-4D97-AF65-F5344CB8AC3E}">
        <p14:creationId xmlns:p14="http://schemas.microsoft.com/office/powerpoint/2010/main" val="4127570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2DD4DA-974C-4271-BC3F-9F8CA4E2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33E061-4814-4E4D-8EBC-76197DAF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产供销平衡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74E97-0AC9-41ED-B110-7DD2FF62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液氨这本账先算得平，才有资格讨论分给谁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300A8-E2FC-4FC9-AD8F-7BED4479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909CDE-2BB1-4CD8-9882-2B7699AEA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21AC65-4C61-456E-97C9-807250F5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06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d301e61a142e8"/>
          <a:stretch xmlns:a="http://schemas.openxmlformats.org/drawingml/2006/main"/>
        </p:blipFill>
        <p:spPr>
          <a:xfrm xmlns:a="http://schemas.openxmlformats.org/drawingml/2006/main">
            <a:off x="590550" y="2661429"/>
            <a:ext cx="6477000" cy="1820892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FD660-8D43-4B85-9B6F-239CF73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24 小时守恒关系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4E4D79-A71E-49CE-AD2D-B3894F9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0D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A504C5-DC93-4F9F-B2C0-BFD5FD51C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288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DCCF"/>
                </a:solidFill>
              </a:defRPr>
            </a:pPr>
            <a:r>
              <a:rPr sz="1575" b="1">
                <a:solidFill>
                  <a:srgbClr val="A9DCCF"/>
                </a:solidFill>
              </a:rPr>
              <a:t>期末可用量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BE612-B0C9-42BD-B60D-6018CF837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8607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= 期初 + 产氨 + 外采 − 各去向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AA8B37-8377-476B-AC87-0025E5F7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909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1CA97-7FCA-4839-AE5C-DE69EB44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9052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A"/>
                </a:solidFill>
              </a:defRPr>
            </a:pPr>
            <a:r>
              <a:rPr sz="1425">
                <a:solidFill>
                  <a:srgbClr val="17324A"/>
                </a:solidFill>
              </a:rPr>
              <a:t>先检查吨数是否守恒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AF1F2A-D979-42C7-AC05-525480A24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862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7F4E05-6104-4844-9C70-557B6657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005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A"/>
                </a:solidFill>
              </a:defRPr>
            </a:pPr>
            <a:r>
              <a:rPr sz="1425">
                <a:solidFill>
                  <a:srgbClr val="17324A"/>
                </a:solidFill>
              </a:rPr>
              <a:t>再看期末是否低于安全库存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4D6B4E-37AC-48C4-84C0-7F939DA8B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815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30D98E-2C70-4571-B0E3-DC6E7EB5E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958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24A"/>
                </a:solidFill>
              </a:defRPr>
            </a:pPr>
            <a:r>
              <a:rPr sz="1425">
                <a:solidFill>
                  <a:srgbClr val="17324A"/>
                </a:solidFill>
              </a:rPr>
              <a:t>最后才比较增产、外采或减配方案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B6D60-79B0-4DD2-9AEE-94E38FCC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67350"/>
            <a:ext cx="3714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C95D63"/>
                </a:solidFill>
              </a:defRPr>
            </a:pPr>
            <a:r>
              <a:rPr sz="1125">
                <a:solidFill>
                  <a:srgbClr val="C95D63"/>
                </a:solidFill>
              </a:rPr>
              <a:t>库存安全线属于企业阈值，当前页面仅为验收样例。</a:t>
            </a:r>
          </a:p>
        </p:txBody>
      </p:sp>
    </p:spTree>
    <p:extLst>
      <p:ext uri="{BB962C8B-B14F-4D97-AF65-F5344CB8AC3E}">
        <p14:creationId xmlns:p14="http://schemas.microsoft.com/office/powerpoint/2010/main" val="7045774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610BAE-089D-49C8-A02D-8D065AC5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F36C7-7BC8-441F-9FFA-5CBBC790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产供销取舍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075C0-D74C-41FC-9000-40049E71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我们比较去向的边际贡献，也把连续运行代价摊在桌面上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8B80B-E0A8-4FB4-8DE0-92FF3BDC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ED381-F434-40D4-B9F9-A00A10F2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D86CB-1ED7-482F-9E88-4EA2625F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07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ea19b20664159"/>
          <a:stretch xmlns:a="http://schemas.openxmlformats.org/drawingml/2006/main"/>
        </p:blipFill>
        <p:spPr>
          <a:xfrm xmlns:a="http://schemas.openxmlformats.org/drawingml/2006/main">
            <a:off x="1710745" y="1524000"/>
            <a:ext cx="5284360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52CF1A-3085-4806-9B2E-DEDCBFA7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7640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系统要回答的不是谁利润最高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B03CB8-FB29-4427-910A-49EFFB987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F2A668-3167-4FBE-9DDF-B7C467504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765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刚性订单是否必须先保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CDA38-AE8D-47E9-89DE-54F1EEB0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F4081-FCE8-495F-AA27-39181473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05125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单位液氨边际贡献是多少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0CACC-80D0-4B9E-BEE9-BF054989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194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41F9B7-B6C3-49E2-981B-5CAB2BDF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停装置会损失多少时间和物料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94037-80A6-4CCA-83F6-CE36D7A5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48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DB6E55-0CC3-465F-AC91-86366133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外采是否有到货与质量约束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A3C753-C725-470E-903C-AD87AA28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76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F74C9-269F-4701-BC5E-92C76DE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91000"/>
            <a:ext cx="2819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售价低于完全成本时是否仍有正贡献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C05921-4949-4C8D-B81C-A35C5E09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10125"/>
            <a:ext cx="28956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DBAC6-B780-4520-A486-D17F02C95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006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边际贡献 ≠ 已实现利润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A6550-83C9-4578-AA5F-A1E9415E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3435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真实收益必须等采纳、执行和同口径复盘后确认</a:t>
            </a:r>
          </a:p>
        </p:txBody>
      </p:sp>
    </p:spTree>
    <p:extLst>
      <p:ext uri="{BB962C8B-B14F-4D97-AF65-F5344CB8AC3E}">
        <p14:creationId xmlns:p14="http://schemas.microsoft.com/office/powerpoint/2010/main" val="564799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8CC6D-4746-4168-9CC3-02F3B330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D8E72-244A-42C0-B197-A51F3B5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稳产预警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2BC1F0-D9AE-4410-A035-146FDD00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弱信号的价值是提前组织复核，不是冒充事故预测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9E139-0FC1-4C26-AB44-D05AA400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B515A-5CBA-4D75-851A-0A16A360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B33214-B3E3-443B-B38D-831F8560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08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1b7743be54f63"/>
          <a:stretch xmlns:a="http://schemas.openxmlformats.org/drawingml/2006/main"/>
        </p:blipFill>
        <p:spPr>
          <a:xfrm xmlns:a="http://schemas.openxmlformats.org/drawingml/2006/main">
            <a:off x="590550" y="2260570"/>
            <a:ext cx="5286375" cy="197491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965c6fa3fd4d3a"/>
          <a:stretch xmlns:a="http://schemas.openxmlformats.org/drawingml/2006/main"/>
        </p:blipFill>
        <p:spPr>
          <a:xfrm xmlns:a="http://schemas.openxmlformats.org/drawingml/2006/main">
            <a:off x="6334125" y="2467865"/>
            <a:ext cx="5267325" cy="156032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24A8F-49C2-4DFE-888A-E8BD9CE3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10109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CF281-6B6D-4FA3-98AE-CFA431BF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97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多变量持续偏离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BFD2BF-B98C-4724-996C-AC8C1B67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410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A486"/>
                </a:solidFill>
              </a:defRPr>
            </a:pPr>
            <a:r>
              <a:rPr sz="2100" b="1">
                <a:solidFill>
                  <a:srgbClr val="20A486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68E55-2595-4E61-9838-5DF3C45A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4197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触发设备专业复核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C56D8A-65BD-4509-8C8F-9A57577B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102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A486"/>
                </a:solidFill>
              </a:defRPr>
            </a:pPr>
            <a:r>
              <a:rPr sz="2100" b="1">
                <a:solidFill>
                  <a:srgbClr val="20A48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B0678-B217-4D87-985E-30E515748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197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A43"/>
                </a:solidFill>
              </a:defRPr>
            </a:pPr>
            <a:r>
              <a:rPr sz="1425" b="1">
                <a:solidFill>
                  <a:srgbClr val="102A43"/>
                </a:solidFill>
              </a:rPr>
              <a:t>必要时限升 / 降负荷建议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A13140-89CA-43A7-B607-2737EB8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419725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95D63"/>
                </a:solidFill>
              </a:defRPr>
            </a:pPr>
            <a:r>
              <a:rPr sz="1200" b="1">
                <a:solidFill>
                  <a:srgbClr val="C95D63"/>
                </a:solidFill>
              </a:rPr>
              <a:t>DCS 报警和 SIS 联锁始终优先</a:t>
            </a:r>
          </a:p>
        </p:txBody>
      </p:sp>
    </p:spTree>
    <p:extLst>
      <p:ext uri="{BB962C8B-B14F-4D97-AF65-F5344CB8AC3E}">
        <p14:creationId xmlns:p14="http://schemas.microsoft.com/office/powerpoint/2010/main" val="18036709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7C9C7-3C75-4798-9DFC-ACA597DA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06214-0033-4DDC-A615-ED489D59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跨装置执行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1D76CA-A76E-404D-834A-631B831B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建议必须被岗位接住，执行结果必须有真实回传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2CDA7-98BC-4DC5-A688-13A5D9EF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936E1-4B46-4593-9B6B-2A535361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5124A-C432-44DE-827A-3CB7D460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09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128511243144d8"/>
          <a:stretch xmlns:a="http://schemas.openxmlformats.org/drawingml/2006/main"/>
        </p:blipFill>
        <p:spPr>
          <a:xfrm xmlns:a="http://schemas.openxmlformats.org/drawingml/2006/main">
            <a:off x="590550" y="2225975"/>
            <a:ext cx="6572250" cy="2653701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d53cafc044431"/>
          <a:stretch xmlns:a="http://schemas.openxmlformats.org/drawingml/2006/main"/>
        </p:blipFill>
        <p:spPr>
          <a:xfrm xmlns:a="http://schemas.openxmlformats.org/drawingml/2006/main">
            <a:off x="7448550" y="2904424"/>
            <a:ext cx="4152900" cy="129680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DC374A-4183-4754-9EA3-E5C2F9F2E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10109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42C8E-C37B-41B2-A23E-13BF5325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4835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班长确认 → 专业会签 → 四岗位接令 → 现场按规程执行 → Historian / MES 回传 → 班末复盘</a:t>
            </a:r>
          </a:p>
        </p:txBody>
      </p:sp>
    </p:spTree>
    <p:extLst>
      <p:ext uri="{BB962C8B-B14F-4D97-AF65-F5344CB8AC3E}">
        <p14:creationId xmlns:p14="http://schemas.microsoft.com/office/powerpoint/2010/main" val="197115558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AC2FCA-E511-4837-AC1D-C1C229AD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47C1C-8365-4F4F-9842-79D077312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飞书闭环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3AAC6-D863-4084-8765-56BE5CDF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飞书把一次调度建议变成有责任人、有时限、有结果的协同任务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354BC-949F-4805-AF7A-C09C391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03B06-66D8-46DA-B7C6-56973184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5DE70-BB98-4158-85DE-D0351CB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10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434fdf45b146d5"/>
          <a:stretch xmlns:a="http://schemas.openxmlformats.org/drawingml/2006/main"/>
        </p:blipFill>
        <p:spPr>
          <a:xfrm xmlns:a="http://schemas.openxmlformats.org/drawingml/2006/main">
            <a:off x="1725010" y="1524000"/>
            <a:ext cx="3636579" cy="4267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998DC-9C7A-40F7-99F9-D015B94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19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六个企业工作入口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E4468-9A8E-4569-98BA-E6CA12D9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1812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B4A59F-4CBE-4415-990F-CB377409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955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互动卡片：送达事实、建议与操作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AF776-F9E1-482B-A54E-5E37C9A0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00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91961-A802-42A4-B0FE-6225B1E6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146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审批：班长与相关专业会签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81DD5-9527-4C37-850F-4F46D504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194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51FA88-710F-489D-B1E7-189ECD96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9337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Task：责任人、截止时间、复核项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19DC9-FFA7-4503-AF6E-DE3452041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385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8565A-9F76-486C-867A-FFA5D0C3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3528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Base：班次、采纳、偏差与原因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B047DF-1BE1-49C8-87AB-8CB52211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64A3AB-CB87-4D71-99AD-48B157AD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7719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Aily：只检索已审核知识源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36DA69-A813-4B05-825C-D89FA78F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76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44AD8-F194-48AA-9E01-5FDB95CB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91000"/>
            <a:ext cx="3962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事件回调：状态写回审计链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64002C-8D27-462D-BF36-6E6A8A7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810125"/>
            <a:ext cx="4333875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F894D9-F969-481E-85A5-E793F7A2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00625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A486"/>
                </a:solidFill>
              </a:defRPr>
            </a:pPr>
            <a:r>
              <a:rPr sz="1275" b="1">
                <a:solidFill>
                  <a:srgbClr val="20A486"/>
                </a:solidFill>
              </a:rPr>
              <a:t>当前状态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4C894F-A2C2-4727-8578-B2919897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305425"/>
            <a:ext cx="3886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324A"/>
                </a:solidFill>
              </a:defRPr>
            </a:pPr>
            <a:r>
              <a:rPr sz="1125">
                <a:solidFill>
                  <a:srgbClr val="17324A"/>
                </a:solidFill>
              </a:rPr>
              <a:t>Base / Task 已验证  ·  卡片/审批为原型  ·  Aily与企业接口待授权</a:t>
            </a:r>
          </a:p>
        </p:txBody>
      </p:sp>
    </p:spTree>
    <p:extLst>
      <p:ext uri="{BB962C8B-B14F-4D97-AF65-F5344CB8AC3E}">
        <p14:creationId xmlns:p14="http://schemas.microsoft.com/office/powerpoint/2010/main" val="17573634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F14EF1-F3CF-4F97-B2D9-01CCFDD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88D4B-EB39-4DD4-A473-EF3CC94C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企业验收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DB6A5-8099-433E-80FA-C13C7753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影子运行先证明建议可靠，再讨论是否进入小范围受控验证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7DA62-1F3E-4721-8878-E1EBCF09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8341F1-B715-473E-9DAD-B5F22060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BCAF5-28FC-4ECF-BF3E-EDE36B38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11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b0f82689734b33"/>
          <a:stretch xmlns:a="http://schemas.openxmlformats.org/drawingml/2006/main"/>
        </p:blipFill>
        <p:spPr>
          <a:xfrm xmlns:a="http://schemas.openxmlformats.org/drawingml/2006/main">
            <a:off x="2302936" y="1504950"/>
            <a:ext cx="4480977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06668-5A3E-4675-82E1-ACA9A5C3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同一班次、同一快照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BFF5D7-DBD6-4012-8566-96056D93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759218-603E-4DBD-9AAC-CF24FBA6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383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平台建议与人工原计划并排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0C0AD4-6357-4C8D-8729-CDE41426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767EE1-55A1-47C0-8771-8C930D53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955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先看可复算和硬约束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66B32-0AC8-4E17-A592-5E6CD91A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B61AE-D3CE-4EE9-AA31-2762688C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527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再补专业会签与真实回传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00364D-E536-4414-8CDD-88F5295E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957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3CE10-306A-47DF-8142-4066875C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099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没有 Historian 就不填实际效果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0177B-C1F4-4463-B12A-7F65BCBF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52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FAB0D7-5FE9-4E8F-BEF6-F30AD191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067175"/>
            <a:ext cx="2343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可导出 JSON 验收摘要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266C9D-6836-4781-9AA7-C7E47E7C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9650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234D3-B24A-4539-917F-6EF4CB4D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000625"/>
            <a:ext cx="2238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A43"/>
                </a:solidFill>
              </a:defRPr>
            </a:pPr>
            <a:r>
              <a:rPr sz="1125" b="1">
                <a:solidFill>
                  <a:srgbClr val="102A43"/>
                </a:solidFill>
              </a:rPr>
              <a:t>页面中的 18/30、22/30、27/30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25EFC4-8260-4BC6-ACB9-55C96508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149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5D63"/>
                </a:solidFill>
              </a:defRPr>
            </a:pPr>
            <a:r>
              <a:rPr sz="1125">
                <a:solidFill>
                  <a:srgbClr val="C95D63"/>
                </a:solidFill>
              </a:rPr>
              <a:t>是样例回放进度，不是云图现场成果</a:t>
            </a:r>
          </a:p>
        </p:txBody>
      </p:sp>
    </p:spTree>
    <p:extLst>
      <p:ext uri="{BB962C8B-B14F-4D97-AF65-F5344CB8AC3E}">
        <p14:creationId xmlns:p14="http://schemas.microsoft.com/office/powerpoint/2010/main" val="3296983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89FDA1-1FED-429E-9EBA-AABF8228D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000373-74FF-4A47-86F8-D0BFAF68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经验传承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1D9113-2142-4FFA-8CF7-D9C6F971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每次复盘都可以成为教材，但未经专业审核不能进入知识库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E6A1BA-B5FB-45F4-BEC7-0D5DA5B9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74BC6-6A5B-4C23-AF5B-AD333C6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E4CC64-476E-4A8B-8D5C-26DC1928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12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90b61abda4722"/>
          <a:stretch xmlns:a="http://schemas.openxmlformats.org/drawingml/2006/main"/>
        </p:blipFill>
        <p:spPr>
          <a:xfrm xmlns:a="http://schemas.openxmlformats.org/drawingml/2006/main">
            <a:off x="1575428" y="1504950"/>
            <a:ext cx="5840744" cy="44577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5C70C1-6E6D-43B7-83B3-83F622AA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954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受治理的学习闭环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9A1F8-CB33-4001-865E-2DD6F193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264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97D61C-12C9-413A-9329-FDAFEB18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25D09-0E47-474C-B648-CBE2862A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098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74E984-86AF-4ED3-A9C9-E14E0C0B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3241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班后补事实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F5DFF-8511-4AFE-8F9F-5002334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384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原计划、建议、实际结果、未采纳原因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0D8FFC-F190-4AC0-BEB9-6F7885A0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62300"/>
            <a:ext cx="264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B699C-135E-44D9-8B10-B509FC0E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6230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9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B305F4-F9F6-4889-AC22-7935CEBB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38137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68599-18BB-43F8-8F41-DD8509DC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29565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专业审核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77020E-E3BC-41C5-8DFA-FE63FD216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0997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生产 / 设备 / 安环 / 经营确认适用边界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EC4F9E-CD0B-4492-B391-B40DDE0A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33850"/>
            <a:ext cx="26479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8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2D8010-EAAE-4EB4-806A-FD632438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33850"/>
            <a:ext cx="4191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367068-98F8-40B7-92DC-C386C2EA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52925"/>
            <a:ext cx="266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22543D-9497-4DC6-8D42-831D2506B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267200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2A43"/>
                </a:solidFill>
              </a:defRPr>
            </a:pPr>
            <a:r>
              <a:rPr sz="1500" b="1">
                <a:solidFill>
                  <a:srgbClr val="102A43"/>
                </a:solidFill>
              </a:rPr>
              <a:t>学习与回测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10D248-E036-4084-933E-73AF26A8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5815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87A"/>
                </a:solidFill>
              </a:defRPr>
            </a:pPr>
            <a:r>
              <a:rPr sz="1125">
                <a:solidFill>
                  <a:srgbClr val="52687A"/>
                </a:solidFill>
              </a:rPr>
              <a:t>新员工完成后，用新班次重新核对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22DD5-4D15-4B82-B1A1-0900AADD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343525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95D63"/>
                </a:solidFill>
              </a:defRPr>
            </a:pPr>
            <a:r>
              <a:rPr sz="1275" b="1">
                <a:solidFill>
                  <a:srgbClr val="C95D63"/>
                </a:solidFill>
              </a:rPr>
              <a:t>单个案例不会自动修改生产规则</a:t>
            </a:r>
          </a:p>
        </p:txBody>
      </p:sp>
    </p:spTree>
    <p:extLst>
      <p:ext uri="{BB962C8B-B14F-4D97-AF65-F5344CB8AC3E}">
        <p14:creationId xmlns:p14="http://schemas.microsoft.com/office/powerpoint/2010/main" val="7949400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2F308DA-6B43-42C5-9175-311E7062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9FB83-05CC-479A-9227-796BCB52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部署与治理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8C281-0A0D-4D43-ADA2-125384B1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平台只读接入现有系统，保留控制层和岗位责任边界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74129-D4F4-4E4E-BAF8-8B23A83B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8E3F0-5D14-49C2-9D5F-8DFD5404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4C94F-DDE6-410D-A1BE-A1FE03A3B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62EA5-0D84-449D-967E-E8540CCFC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2952750" cy="3714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095DCB-C20C-4FB1-AA68-A4653D6C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企业事实源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81721-FA7F-4CFB-BB83-7852722F5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FEDEE6-65A2-4E28-8EC3-9C58C96B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2105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ERP：订单与执行价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00C701-8B61-4D84-9C27-7A8F97DF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48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5EC04-E635-438B-A06D-4499B1E1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62275"/>
            <a:ext cx="2105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MES：计划与产量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F5FDC-AD1C-4698-B942-5300DD87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95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67BDBF-F15C-4A05-BE99-5B4011258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2105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Historian / DCS摘要：实际工况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B1E1BF-6D7E-4A87-8F5A-875F50AA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D390FB-C449-4471-8F3D-4AB84A49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2105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设备软件：压机健康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85F663-231E-4225-9692-C042384F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91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3FE1D1-4FC4-47F1-BD8A-1BE2F4580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305300"/>
            <a:ext cx="21050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热电 APC：公辅约束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2C0DC-71F4-4774-92C0-8C80C02F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57350"/>
            <a:ext cx="3619500" cy="3714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0D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0FA791-72BB-44BE-8BBC-D1591950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288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氨智领航调控师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343140-CC1B-472C-A08D-138A3CB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860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38DB5B-C9B8-4E9E-BA15-534B900B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00350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事实表与质量码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64E97-0AEB-4728-A93D-82B93E7F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DACE4C-2D93-4C98-A419-9551CC44D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05175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液氨平衡与方案比较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F80566-61D9-4C66-9AE6-4D0F9C01E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957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32AA4C-ACA7-428C-8BA2-2B8AC3B52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810000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条件门禁与回滚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055176-F7D3-4592-9B27-DA929A29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005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50B3223-82CA-46C3-8440-91E6EEDE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14825"/>
            <a:ext cx="24384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证据包与审计事件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3A5732-FA4D-447E-A7BD-89F75B61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57350"/>
            <a:ext cx="3333750" cy="3714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0FB2A5-94AB-4798-B0A7-231A40AD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526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</a:defRPr>
            </a:pPr>
            <a:r>
              <a:rPr sz="1725" b="1">
                <a:solidFill>
                  <a:srgbClr val="102A43"/>
                </a:solidFill>
              </a:rPr>
              <a:t>协同与反馈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FED28E-828D-4041-9EE0-D8E58795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6003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15796-51D0-41D8-9CC9-E602F59B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14600"/>
            <a:ext cx="2343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飞书卡片 / 审批 / Task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45586-C10D-4ED8-AF68-8006F82E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4800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1C075-2885-4F4A-BA59-49BB7F16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62275"/>
            <a:ext cx="2343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Base 复盘与学习库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A3F1E8-BBC3-4931-BD9B-BC66898E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9567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30E318-E9BF-44F6-BDD9-C7A89D2D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09950"/>
            <a:ext cx="2343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MES 计划摘要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871420-3A41-4C6D-8F93-A1B9C785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43350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9E60F6-7BF1-4F0B-8D3F-074E3872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57625"/>
            <a:ext cx="2343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实际回传后再算偏差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DDCAA6-3B7D-4A47-A4C4-703454617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91025"/>
            <a:ext cx="85725" cy="85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B8C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249333-47B8-41CC-A896-B9E60A4D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05300"/>
            <a:ext cx="2343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7324A"/>
                </a:solidFill>
              </a:defRPr>
            </a:pPr>
            <a:r>
              <a:rPr sz="1275">
                <a:solidFill>
                  <a:srgbClr val="17324A"/>
                </a:solidFill>
              </a:rPr>
              <a:t>异常时降级人工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5D03852-BC4F-42FF-B6C5-C0B9ADF8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959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只读数据 → 可解释建议 → 人工确认 → 计划与协同记录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5E4D80-D398-4411-AF02-72E1B226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15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C95D63"/>
                </a:solidFill>
              </a:defRPr>
            </a:pPr>
            <a:r>
              <a:rPr sz="1125">
                <a:solidFill>
                  <a:srgbClr val="C95D63"/>
                </a:solidFill>
              </a:rPr>
              <a:t>不存在 DCS / SIS 写入路径；数据过期、质量无效、关键字段缺失时停止新建议。</a:t>
            </a:r>
          </a:p>
        </p:txBody>
      </p:sp>
    </p:spTree>
    <p:extLst>
      <p:ext uri="{BB962C8B-B14F-4D97-AF65-F5344CB8AC3E}">
        <p14:creationId xmlns:p14="http://schemas.microsoft.com/office/powerpoint/2010/main" val="65339346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F914D8-F5C0-45F2-94B7-E1DF9232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A4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5C4ED-98A9-457C-9E7D-2A84E534B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29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0A486"/>
                </a:solidFill>
              </a:defRPr>
            </a:pPr>
            <a:r>
              <a:rPr sz="1125" b="1">
                <a:solidFill>
                  <a:srgbClr val="20A486"/>
                </a:solidFill>
              </a:rPr>
              <a:t>落地计划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65320-B416-436F-A796-3C7BDE22E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</a:defRPr>
            </a:pPr>
            <a:r>
              <a:rPr sz="2700" b="1">
                <a:solidFill>
                  <a:srgbClr val="102A43"/>
                </a:solidFill>
              </a:rPr>
              <a:t>30天先把账对上，60天证明可靠，90天再做受控验证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9BEE3-32BB-44BF-9AF3-89EF17B1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1010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8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DB3A3-A4A3-4DC3-AD17-AA858C18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87A"/>
                </a:solidFill>
              </a:defRPr>
            </a:pPr>
            <a:r>
              <a:rPr sz="900">
                <a:solidFill>
                  <a:srgbClr val="52687A"/>
                </a:solidFill>
              </a:rPr>
              <a:t>氨智领航调控师  |  决赛产品全景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F6EDD-89DD-410B-BB8F-B002B963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496050"/>
            <a:ext cx="409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87A"/>
                </a:solidFill>
              </a:defRPr>
            </a:pPr>
            <a:r>
              <a:rPr sz="975" b="1">
                <a:solidFill>
                  <a:srgbClr val="52687A"/>
                </a:solidFill>
              </a:rPr>
              <a:t>14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7ce2632a2741d2"/>
          <a:stretch xmlns:a="http://schemas.openxmlformats.org/drawingml/2006/main"/>
        </p:blipFill>
        <p:spPr>
          <a:xfrm xmlns:a="http://schemas.openxmlformats.org/drawingml/2006/main">
            <a:off x="1354209" y="1485900"/>
            <a:ext cx="5902183" cy="44767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441F79-D506-4CB2-B1BB-9C2BDD1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764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2A43"/>
                </a:solidFill>
              </a:defRPr>
            </a:pPr>
            <a:r>
              <a:rPr sz="1800" b="1">
                <a:solidFill>
                  <a:srgbClr val="102A43"/>
                </a:solidFill>
              </a:rPr>
              <a:t>建议企业给我们的第一步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960B85-7423-4DCC-8BFF-0BABBCA4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76500"/>
            <a:ext cx="28575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D46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D4FEC-3280-4111-ABAA-7FDF783AC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9DCCF"/>
                </a:solidFill>
              </a:defRPr>
            </a:pPr>
            <a:r>
              <a:rPr sz="1575" b="1">
                <a:solidFill>
                  <a:srgbClr val="A9DCCF"/>
                </a:solidFill>
              </a:rPr>
              <a:t>选取一段历史班次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7E1DF-F8D0-4F4F-AFA0-B4BABC13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992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提供订单、MES计划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罐区摘要和设备/公辅只读数据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5BE0A8-872B-43D5-B454-2FB1576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362450"/>
            <a:ext cx="28575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5F4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40245-186F-4AD4-99BA-4E4EA90D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624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A486"/>
                </a:solidFill>
              </a:defRPr>
            </a:pPr>
            <a:r>
              <a:rPr sz="1350" b="1">
                <a:solidFill>
                  <a:srgbClr val="20A486"/>
                </a:solidFill>
              </a:rPr>
              <a:t>我们交付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3CF1B7-3AE4-4CC8-B186-2B99EAEB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244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</a:defRPr>
            </a:pPr>
            <a:r>
              <a:rPr sz="1350" b="1">
                <a:solidFill>
                  <a:srgbClr val="102A43"/>
                </a:solidFill>
              </a:rPr>
              <a:t>数据问题清单 + 同快照回放 + 验收证据包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B8AA4F-6E90-4E78-AD9C-82B14A5F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6769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A"/>
                </a:solidFill>
              </a:defRPr>
            </a:pPr>
            <a:r>
              <a:rPr sz="1275" b="1">
                <a:solidFill>
                  <a:srgbClr val="17324A"/>
                </a:solidFill>
              </a:rPr>
              <a:t>目标不是先证明AI多强，而是先证明企业能够安全、清楚、可复核地使用。</a:t>
            </a:r>
          </a:p>
        </p:txBody>
      </p:sp>
    </p:spTree>
    <p:extLst>
      <p:ext uri="{BB962C8B-B14F-4D97-AF65-F5344CB8AC3E}">
        <p14:creationId xmlns:p14="http://schemas.microsoft.com/office/powerpoint/2010/main" val="2124456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2026-08-15T10:33:05.6640000Z</dcterms:created>
  <dcterms:modified xsi:type="dcterms:W3CDTF">2026-08-15T10:33:05.6640000Z</dcterms:modified>
</coreProperties>
</file>